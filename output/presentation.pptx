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발표는 단순한 AI 도구 소개가 아닙니다. '혼자서 팀처럼 일하는' 것이 실제로 가능해진 시대에, 여러분의 조직이 그 첫 번째 수혜자가 될 수 있도록 구체적인 방법을 공유합니다.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청중에게 질문: '여러분 팀에서 지난 주에 가장 많이 한 작업이 뭔가요?' 핵심 메시지: 우리는 이미 비싼 사람들을 싸구려 일에 쓰고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'이미 Fortune 100 기업의 70%가 도입했습니다' — 의사결정자에게 가장 강력한 메시지. 숫자를 천천히 읽어주세요.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'요리 비유'를 사용하세요 — Skills는 레시피북, Sub-agents는 요리사, Hooks는 위생 검사관.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'파일 하나만 만들면 전문가 팀원이 생깁니다'. 기술적 복잡성보다 결과에 초점을 맞추세요.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Skills의 가치: 팀 지식의 코드화. 시니어 개발자의 노하우를 Skills에 담으면 주니어도 동일 품질로 실행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'지금 여러분 팀의 PR 리뷰에 얼마나 시간이 걸리나요?' 67% 향상은 Anthropic 내부 데이터로 신뢰도 높음.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 목적: '가능성의 한계'를 보여주기. $20,000 비용은 인건비 대비 리프레이밍. 10만 줄을 사람이 짜면 얼마일까요?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개발자가 아닌 기획자/관리자에게 가장 어필. '주간 보고서를 Claude Code에 맡기면 어떻게 될까요?'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171% ROI는 CFO/CEO에게 결정적. 하단 주의사항은 반드시 언급 — '올바른 도입 방법'으로 신뢰도 상승.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'품질 게이트'는 AI가 실수를 해도 자동으로 잡아준다는 안심 메시지. 보수적 의사결정자의 리스크 우려 해소.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46% vs 19% vs 9% 숫자는 기억에 남음. 경쟁사를 깎아내리기보다 '용도에 맞는 선택'을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'오늘 발표 끝나고 30분 안에 첫 번째 Sub-agent를 만들 수 있습니다.' Month 1에 이미 가시적 효과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슬라이드: 긴박감(지금 하지 않으면 뒤처짐) + 희망(지금 바로 시작 가능). '오늘 미팅 후 30분, 저와 함께 첫 Sub-agent를 만들어 보시겠습니까?'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43200" cy="68580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377440"/>
            <a:ext cx="73152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288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에이전트를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활용한 업무 자동화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혼자서 팀처럼 일하는 시대 — AI 에이전트 팀 구성 실전 가이드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0" y="1371600"/>
            <a:ext cx="2468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2A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2A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2A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팀이 하루에 하는 일의 70%는 반복이다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303520" cy="4389120"/>
          </a:xfrm>
          <a:prstGeom prst="rect">
            <a:avLst/>
          </a:prstGeom>
          <a:solidFill>
            <a:srgbClr val="FFF3F4"/>
          </a:solidFill>
          <a:ln w="12700">
            <a:solidFill>
              <a:srgbClr val="FFC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반복 업무 (70%)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29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리뷰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70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업데이트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10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보고서 작성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50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실행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617720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5902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리뷰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5303520" cy="4389120"/>
          </a:xfrm>
          <a:prstGeom prst="rect">
            <a:avLst/>
          </a:prstGeom>
          <a:solidFill>
            <a:srgbClr val="F0F8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창의적 판단 (30%)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205740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029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결정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269748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670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설계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337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310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소통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46520" y="397764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3950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혁신 아이디어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" y="5852160"/>
            <a:ext cx="11155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도구를 사용하거나 사용 계획 중인 개발자  84%  (2025 Stack Overflow Survey)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단순한 코딩 보조를 넘어선 자율 실행 엔진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5661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10억 달러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 6개월 만에 연간 매출 달성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엔터프라이즈 역사상 최단기간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280160"/>
            <a:ext cx="3566160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89120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25억 달러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34840" y="3108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2월 기준 연간 매출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활성 개발자 115,000명+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28016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280160"/>
            <a:ext cx="3566160" cy="1645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29600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275320" y="3108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선호도 조사 1위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Cursor 19% · Copilot 9%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852160"/>
            <a:ext cx="11155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 기업의 70% 도입 · CLI 기반 · 자율 에이전트 실행 · 멀티파일 리팩토링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팀을 구성하는 3가지 핵심 요소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09160" y="2560320"/>
            <a:ext cx="2743200" cy="1554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09160" y="2651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(메인 Claude)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33832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86000"/>
            <a:ext cx="338328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독립 컨텍스트에서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특화 작업 실행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최대 7개 병렬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2560320"/>
            <a:ext cx="77724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560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5029200"/>
            <a:ext cx="33832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5029200"/>
            <a:ext cx="3383280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5303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5806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재사용 가능한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워크플로우 모듈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/batch  /loop  /simplify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5303520"/>
            <a:ext cx="77724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5303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3832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2286000"/>
            <a:ext cx="3383280" cy="1645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3063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이벤트 기반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자동 품질 게이트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파일 저장 → 자동 Lint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607040" y="2560320"/>
            <a:ext cx="777240" cy="3200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560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852160"/>
            <a:ext cx="1115568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Sub-agents는 실행자 · Skills는 레시피 · Hooks는 규칙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— 역할과 권한이 분리된 특화 AI 어시스턴트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389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컨텍스트 + 커스텀 역할 + 특정 도구 권한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194560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67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대화를 오염시키지 않고 병렬로 최대 7개 동시 실행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971800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944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하나로 생성: YAML 헤더 + 역할 지시문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5486400" cy="2560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023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.claude/agents/code-reviewer.md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38912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코드 품질과 보안을 검토하는 전문가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Read, Grep, Glob, Bash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시니어 코드 리뷰어입니다...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53949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빌트인 Sub-agents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0" y="1920240"/>
            <a:ext cx="5029200" cy="822960"/>
          </a:xfrm>
          <a:prstGeom prst="rect">
            <a:avLst/>
          </a:prstGeom>
          <a:solidFill>
            <a:srgbClr val="F4F6FB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313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코드베이스 탐색 및 분석 전문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926080"/>
            <a:ext cx="5029200" cy="822960"/>
          </a:xfrm>
          <a:prstGeom prst="rect">
            <a:avLst/>
          </a:prstGeom>
          <a:solidFill>
            <a:srgbClr val="F4F6FB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999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319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아키텍처 설계 및 실행 계획 수립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931920"/>
            <a:ext cx="5029200" cy="822960"/>
          </a:xfrm>
          <a:prstGeom prst="rect">
            <a:avLst/>
          </a:prstGeom>
          <a:solidFill>
            <a:srgbClr val="F4F6FB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4005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복잡한 멀티스텝 작업 실행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4937760"/>
            <a:ext cx="5029200" cy="822960"/>
          </a:xfrm>
          <a:prstGeom prst="rect">
            <a:avLst/>
          </a:prstGeom>
          <a:solidFill>
            <a:srgbClr val="F4F6FB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5010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claude-code-guide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5330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API / SDK 활용 가이드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반복 업무를 /명령어 하나로 처리하는 모듈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개념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755648"/>
            <a:ext cx="4572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파일 하나로 정의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50008"/>
            <a:ext cx="4572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/명령어로 즉시 호출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44368"/>
            <a:ext cx="4572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전체 공유 및 재사용 가능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538728"/>
            <a:ext cx="4572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마켓플레이스에서 설치 가능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389120"/>
            <a:ext cx="5486400" cy="914400"/>
          </a:xfrm>
          <a:prstGeom prst="rect">
            <a:avLst/>
          </a:prstGeom>
          <a:solidFill>
            <a:srgbClr val="E8F8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6227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사내 브랜드 PPT 템플릿을 Skill로 등록 →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매번 지시 없이 브랜드 가이드라인 자동 적용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577840" cy="53035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371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빌트인 Skills 실사용 예시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52120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19933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/batch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24231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코드베이스를 30개 작업으로 분해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병렬 마이그레이션 실행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291840"/>
            <a:ext cx="52120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주기적 모니터링 자동화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배포 감시, PR 알림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663440"/>
            <a:ext cx="52120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37960" y="47365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/simplify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51663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3개 병렬 리뷰 에이전트로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코드 품질 자동 검토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1 — 코드 리뷰 3시간 → 15분: Fountain의 실전 사례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56616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C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566160" cy="5486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하나당 수동 리뷰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26517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검토 + 성능 분석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테스트 커버리지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26517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소요: 3시간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3108960"/>
            <a:ext cx="9144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1188720"/>
            <a:ext cx="356616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1188720"/>
            <a:ext cx="356616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234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1920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보안 취약점 스캔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26517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2: 성능 병목 분석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657600"/>
            <a:ext cx="26517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931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3: 테스트 커버리지 확인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3840" y="3108960"/>
            <a:ext cx="9144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1188720"/>
            <a:ext cx="356616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1188720"/>
            <a:ext cx="3566160" cy="548640"/>
          </a:xfrm>
          <a:prstGeom prst="rect">
            <a:avLst/>
          </a:prstGeom>
          <a:solidFill>
            <a:srgbClr val="227722"/>
          </a:solidFill>
          <a:ln w="12700">
            <a:solidFill>
              <a:srgbClr val="227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234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1920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계층형 멀티에이전트로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2651760"/>
            <a:ext cx="26517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코드베이스 리뷰 자동화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3657600"/>
            <a:ext cx="26517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3931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 내 완료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5806440"/>
            <a:ext cx="1115568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897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엔지니어 1인당 일일 PR 병합 수  +67% 증가  (Anthropic 내부 데이터)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7315200" cy="7315200"/>
          </a:xfrm>
          <a:prstGeom prst="ellipse">
            <a:avLst/>
          </a:prstGeom>
          <a:solidFill>
            <a:srgbClr val="162050">
              <a:alpha val="70000"/>
            </a:srgbClr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2 — 대규모 코드 마이그레이션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컴파일러를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처음부터 만든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16개의 에이전트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2560320" cy="1463040"/>
          </a:xfrm>
          <a:prstGeom prst="rect">
            <a:avLst/>
          </a:prstGeom>
          <a:solidFill>
            <a:srgbClr val="1A2B5E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4114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병렬 에이전트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4023360"/>
            <a:ext cx="2560320" cy="1463040"/>
          </a:xfrm>
          <a:prstGeom prst="rect">
            <a:avLst/>
          </a:prstGeom>
          <a:solidFill>
            <a:srgbClr val="1A2B5E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4114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10만 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4846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코드 규모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4023360"/>
            <a:ext cx="2560320" cy="1463040"/>
          </a:xfrm>
          <a:prstGeom prst="rect">
            <a:avLst/>
          </a:prstGeom>
          <a:solidFill>
            <a:srgbClr val="1A2B5E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4114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4846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테스트 통과율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3931920"/>
            <a:ext cx="5212080" cy="2560320"/>
          </a:xfrm>
          <a:prstGeom prst="rect">
            <a:avLst/>
          </a:prstGeom>
          <a:solidFill>
            <a:srgbClr val="16205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9319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6720840" y="44805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16비트 x86 에이전트 팀이 처음부터 C 컴파일러를 구축해 Linux 커널을 컴파일했다.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Nicholas Carlini, Anthropic 연구원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623560"/>
            <a:ext cx="5486400" cy="822960"/>
          </a:xfrm>
          <a:prstGeom prst="rect">
            <a:avLst/>
          </a:prstGeom>
          <a:solidFill>
            <a:srgbClr val="16205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7150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 예시: /batch로 src/ 전체를 Solid → React 마이그레이션 (5~30개 병렬)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3 — 판매 데이터 → Excel → PPT → 이메일 초안 자동 완성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88720" y="1280160"/>
            <a:ext cx="1280160" cy="1280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371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SQL/BigQuery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자동 쿼리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783080" y="2578608"/>
            <a:ext cx="0" cy="182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280160"/>
            <a:ext cx="1280160" cy="12801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23360" y="1371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91840" y="274320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업데이트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33375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자동 집계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시각화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▶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17720" y="2578608"/>
            <a:ext cx="0" cy="18288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280160"/>
            <a:ext cx="1280160" cy="1280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371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📑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자동 갱신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33375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브랜드 가이드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유지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</a:rPr>
              <a:t>▶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52360" y="2578608"/>
            <a:ext cx="0" cy="18288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1280160"/>
            <a:ext cx="1280160" cy="1280160"/>
          </a:xfrm>
          <a:prstGeom prst="ellipse">
            <a:avLst/>
          </a:prstGeom>
          <a:solidFill>
            <a:srgbClr val="227722"/>
          </a:solidFill>
          <a:ln w="12700">
            <a:solidFill>
              <a:srgbClr val="22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92640" y="1371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8961120" y="274320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2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05256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초안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52560" y="33375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다국어 버전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자동 생성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287000" y="2578608"/>
            <a:ext cx="0" cy="182880"/>
          </a:xfrm>
          <a:prstGeom prst="line">
            <a:avLst/>
          </a:prstGeom>
          <a:noFill/>
          <a:ln w="19050">
            <a:solidFill>
              <a:srgbClr val="2277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074920"/>
            <a:ext cx="5029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166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주간 보고서 작성 시간  90% 절감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0" y="5074920"/>
            <a:ext cx="5852160" cy="777240"/>
          </a:xfrm>
          <a:prstGeom prst="rect">
            <a:avLst/>
          </a:prstGeom>
          <a:solidFill>
            <a:srgbClr val="E8F8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5166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× Microsoft 통합 (2025) — Excel, PowerPoint 공유 컨텍스트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기업의 공통 결과 — 숫자가 증명한다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566160" cy="1965960"/>
          </a:xfrm>
          <a:prstGeom prst="rect">
            <a:avLst/>
          </a:prstGeom>
          <a:solidFill>
            <a:srgbClr val="F4F6FB"/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356616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생산성 향상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Anthropic 내부 (최대)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234440"/>
            <a:ext cx="3566160" cy="1965960"/>
          </a:xfrm>
          <a:prstGeom prst="rect">
            <a:avLst/>
          </a:prstGeom>
          <a:solidFill>
            <a:srgbClr val="F4F6FB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234440"/>
            <a:ext cx="3566160" cy="1371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463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29768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병합 수 증가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엔지니어 1인당 일일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234440"/>
            <a:ext cx="3566160" cy="1965960"/>
          </a:xfrm>
          <a:prstGeom prst="rect">
            <a:avLst/>
          </a:prstGeom>
          <a:solidFill>
            <a:srgbClr val="F4F6FB"/>
          </a:solidFill>
          <a:ln w="254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234440"/>
            <a:ext cx="3566160" cy="1371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463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13816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리팩토링 생산성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6,000명+ 개발자 연구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3566160" cy="1965960"/>
          </a:xfrm>
          <a:prstGeom prst="rect">
            <a:avLst/>
          </a:prstGeom>
          <a:solidFill>
            <a:srgbClr val="F4F6FB"/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356616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49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171%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AI 에이전트 ROI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미국 기업 평균 192%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3520440"/>
            <a:ext cx="3566160" cy="1965960"/>
          </a:xfrm>
          <a:prstGeom prst="rect">
            <a:avLst/>
          </a:prstGeom>
          <a:solidFill>
            <a:srgbClr val="F4F6FB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0" y="3520440"/>
            <a:ext cx="3566160" cy="1371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749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429768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해 ROI 달성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5029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임원 보고 기준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566160" cy="1965960"/>
          </a:xfrm>
          <a:prstGeom prst="rect">
            <a:avLst/>
          </a:prstGeom>
          <a:solidFill>
            <a:srgbClr val="F4F6FB"/>
          </a:solidFill>
          <a:ln w="254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0" y="3520440"/>
            <a:ext cx="3566160" cy="1371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749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813816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절감 가능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38160" y="5029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워크플로우 자동화 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5897880"/>
            <a:ext cx="1115568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9618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무조건적 도입보다 적합한 작업 선별과 품질 게이트(Hooks) 설정이 필수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효과를 3배로 만드는 에이전트 팀 구성 5원칙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86868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325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규모 최적화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3~5명의 Sub-agent가 최적. Teammate당 5~6개 태스크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868680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명확화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743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각 에이전트는 명확히 구분된 파일/모듈 소유. 보안/성능/테스트 역할 분리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37560"/>
            <a:ext cx="868680" cy="914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3756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29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단위 최적화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7947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명확한 결과물을 갖는 독립 단위로 설계. 너무 작으면 오버헤드, 너무 크면 낭비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38912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389120"/>
            <a:ext cx="86868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38912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480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공유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8463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CLAUDE.md로 팀 전체에 프로젝트 가이드라인 배포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44068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5440680"/>
            <a:ext cx="86868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44068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532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게이트 적용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5897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Hooks로 자동 품질 검사: 파일 편집 후 자동 Lint, .env 수정 차단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도구 3파전 — Claude Code가 선택받는 이유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2004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11880" y="1188720"/>
            <a:ext cx="292608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188720"/>
            <a:ext cx="26517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281160" y="1188720"/>
            <a:ext cx="27432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320040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83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에이전트 실행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11880" y="1755648"/>
            <a:ext cx="2926080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최고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1755648"/>
            <a:ext cx="265176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강력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81160" y="1755648"/>
            <a:ext cx="274320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기본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487168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내장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11880" y="2487168"/>
            <a:ext cx="2926080" cy="713232"/>
          </a:xfrm>
          <a:prstGeom prst="rect">
            <a:avLst/>
          </a:prstGeom>
          <a:solidFill>
            <a:srgbClr val="FFE8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514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기본 제공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2487168"/>
            <a:ext cx="2651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514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미지원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281160" y="2487168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2514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218688"/>
            <a:ext cx="320040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멀티파일 리팩토링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11880" y="3218688"/>
            <a:ext cx="2926080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최강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3218688"/>
            <a:ext cx="265176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281160" y="3218688"/>
            <a:ext cx="274320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7260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3950208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선호도 1위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11880" y="3950208"/>
            <a:ext cx="2926080" cy="713232"/>
          </a:xfrm>
          <a:prstGeom prst="rect">
            <a:avLst/>
          </a:prstGeom>
          <a:solidFill>
            <a:srgbClr val="FFE8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83680" y="3950208"/>
            <a:ext cx="2651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281160" y="3950208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3977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4681728"/>
            <a:ext cx="320040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09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구독료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611880" y="4681728"/>
            <a:ext cx="2926080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4709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$17 / Max $100+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583680" y="4681728"/>
            <a:ext cx="265176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4709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$20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281160" y="4681728"/>
            <a:ext cx="274320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72600" y="4709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65760" y="5760720"/>
            <a:ext cx="11155680" cy="777240"/>
          </a:xfrm>
          <a:prstGeom prst="rect">
            <a:avLst/>
          </a:prstGeom>
          <a:solidFill>
            <a:srgbClr val="FFF0F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852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권장: 자율 에이전트 워크플로우 · 복잡한 리팩토링 · 최고 수준 추론이 필요한 경우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내일부터 시작할 수 있는 Claude Code 에이전트 팀 도입 로드맵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965960" y="1828800"/>
            <a:ext cx="822960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783080" y="150876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3120" y="2148840"/>
            <a:ext cx="0" cy="32004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68880"/>
            <a:ext cx="35661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68880"/>
            <a:ext cx="3566160" cy="594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시작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3611880"/>
            <a:ext cx="54864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593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Pro 설치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4251960"/>
            <a:ext cx="54864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233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1~2명 테스트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" y="4892040"/>
            <a:ext cx="54864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873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 하나 선정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" y="5532120"/>
            <a:ext cx="54864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513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Sub-agent 작성 (30분)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1508760"/>
            <a:ext cx="640080" cy="6400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2148840"/>
            <a:ext cx="0" cy="32004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2468880"/>
            <a:ext cx="35661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2468880"/>
            <a:ext cx="3566160" cy="5943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34340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워크플로우 통합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16552" y="3611880"/>
            <a:ext cx="5486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3593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3~5개 핵심 Sub-agent 구성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16552" y="4251960"/>
            <a:ext cx="5486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4233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Skills로 팀 컨벤션 코드화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16552" y="4892040"/>
            <a:ext cx="5486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4873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품질 게이트 설정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16552" y="5532120"/>
            <a:ext cx="5486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5513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전체 온보딩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555480" y="150876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75520" y="2148840"/>
            <a:ext cx="0" cy="32004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2468880"/>
            <a:ext cx="35661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38160" y="2468880"/>
            <a:ext cx="356616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22960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전체 확산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02752" y="3611880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5632" y="3593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활성화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302752" y="4251960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5632" y="4233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Skills 라이브러리 구축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302752" y="4892040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4873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측정 및 경영진 보고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302752" y="5532120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85632" y="5513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 최적화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65760" y="6446520"/>
            <a:ext cx="1115568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5897880"/>
            <a:ext cx="1115568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9436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시작 비용: Claude Code Pro $17/월  +  팀원 반나절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8229600" cy="8229600"/>
          </a:xfrm>
          <a:prstGeom prst="ellipse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도입하지 않으면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경쟁사가 먼저 한다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377440" cy="2011680"/>
          </a:xfrm>
          <a:prstGeom prst="rect">
            <a:avLst/>
          </a:prstGeom>
          <a:solidFill>
            <a:srgbClr val="162050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834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2026년까지 에이전트 포함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엔터프라이즈 앱 비율 (Gartner)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743200"/>
            <a:ext cx="2377440" cy="2011680"/>
          </a:xfrm>
          <a:prstGeom prst="rect">
            <a:avLst/>
          </a:prstGeom>
          <a:solidFill>
            <a:srgbClr val="162050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2834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1752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자율 에이전트 도입 의향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리더 비율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2743200"/>
            <a:ext cx="2377440" cy="2011680"/>
          </a:xfrm>
          <a:prstGeom prst="rect">
            <a:avLst/>
          </a:prstGeom>
          <a:solidFill>
            <a:srgbClr val="162050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2834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7784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엔터프라이즈 AI 에이전트 시장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CAGR (2024~2030)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188720"/>
            <a:ext cx="3657600" cy="2560320"/>
          </a:xfrm>
          <a:prstGeom prst="rect">
            <a:avLst/>
          </a:prstGeom>
          <a:solidFill>
            <a:srgbClr val="16205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188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321040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Claude는 동료에게 물었던 질문의 80~90%를 처리해준다.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Anthropic 엔지니어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7498080" cy="1600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50292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시작하세요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555955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claude.ai/code  →  Claude Code Pro $17/월로 시작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미팅 후 30분, 첫 번째 Sub-agent를 함께 만들어보실 분?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에이전트를 활용한 업무 자동화</dc:title>
  <dc:subject>PptxGenJS Presentation</dc:subject>
  <dc:creator>PPT Team Agent</dc:creator>
  <cp:lastModifiedBy>PPT Team Agent</cp:lastModifiedBy>
  <cp:revision>1</cp:revision>
  <dcterms:created xsi:type="dcterms:W3CDTF">2026-03-15T06:17:53Z</dcterms:created>
  <dcterms:modified xsi:type="dcterms:W3CDTF">2026-03-15T06:17:53Z</dcterms:modified>
</cp:coreProperties>
</file>